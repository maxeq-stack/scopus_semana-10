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embeddedFontLst>
    <p:embeddedFont>
      <p:font typeface="Epilogue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raunces Medium" panose="020B0604020202020204" charset="0"/>
      <p:regular r:id="rId18"/>
    </p:embeddedFont>
    <p:embeddedFont>
      <p:font typeface="Epilogue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15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0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A8A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736600"/>
            <a:ext cx="7111822" cy="5257800"/>
          </a:xfrm>
          <a:prstGeom prst="roundRect">
            <a:avLst>
              <a:gd name="adj" fmla="val 652"/>
            </a:avLst>
          </a:prstGeom>
          <a:solidFill>
            <a:srgbClr val="080E26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1152180"/>
            <a:ext cx="624824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MX" sz="3400" kern="100" spc="-41" dirty="0" smtClean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Artículo 1: Adicción al celular, salud mental y trastornos del sueño en universitarios egipcios</a:t>
            </a:r>
            <a:endParaRPr lang="es-MX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75" y="2776438"/>
            <a:ext cx="3124122" cy="139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0575" y="3179663"/>
            <a:ext cx="6248244" cy="10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Año: 2026.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País: Egipto.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Diseño: estudio transversal.</a:t>
            </a:r>
            <a:endParaRPr lang="en-US" sz="1800" dirty="0"/>
          </a:p>
        </p:txBody>
      </p:sp>
      <p:sp>
        <p:nvSpPr>
          <p:cNvPr id="6" name="Terminador 5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322976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Pregunta de investigación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106142"/>
            <a:ext cx="5537061" cy="139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86" y="3509367"/>
            <a:ext cx="863578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 estudiantes universitarios, ¿el uso problemático o excesivo del teléfono celular, en comparación con un uso moderado, se asocia con una peor calidad del sueño?</a:t>
            </a:r>
            <a:endParaRPr lang="en-US" sz="2000" dirty="0"/>
          </a:p>
        </p:txBody>
      </p:sp>
      <p:sp>
        <p:nvSpPr>
          <p:cNvPr id="5" name="Terminador 4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Formulación PICO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3654433" cy="139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1786235"/>
            <a:ext cx="5384665" cy="1990030"/>
          </a:xfrm>
          <a:prstGeom prst="roundRect">
            <a:avLst>
              <a:gd name="adj" fmla="val 1723"/>
            </a:avLst>
          </a:prstGeom>
          <a:solidFill>
            <a:srgbClr val="28315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0" y="2014835"/>
            <a:ext cx="571486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7380" y="2719685"/>
            <a:ext cx="49274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 (Población):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87380" y="3227685"/>
            <a:ext cx="515607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estudiantes universitarios.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248244" y="1786235"/>
            <a:ext cx="5384665" cy="1990030"/>
          </a:xfrm>
          <a:prstGeom prst="roundRect">
            <a:avLst>
              <a:gd name="adj" fmla="val 1723"/>
            </a:avLst>
          </a:prstGeom>
          <a:solidFill>
            <a:srgbClr val="28315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2014835"/>
            <a:ext cx="571486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76838" y="2719685"/>
            <a:ext cx="49274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 (Intervención/exposición):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476838" y="3227685"/>
            <a:ext cx="515607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uso problemático o excesivo del celular.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58786" y="4081066"/>
            <a:ext cx="5384665" cy="1990030"/>
          </a:xfrm>
          <a:prstGeom prst="roundRect">
            <a:avLst>
              <a:gd name="adj" fmla="val 1723"/>
            </a:avLst>
          </a:prstGeom>
          <a:solidFill>
            <a:srgbClr val="283157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80" y="4309666"/>
            <a:ext cx="571486" cy="571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7380" y="5014516"/>
            <a:ext cx="49274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(Comparación):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87380" y="5522516"/>
            <a:ext cx="515607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uso moderado o no problemático.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248244" y="4081066"/>
            <a:ext cx="5384665" cy="1990030"/>
          </a:xfrm>
          <a:prstGeom prst="roundRect">
            <a:avLst>
              <a:gd name="adj" fmla="val 1723"/>
            </a:avLst>
          </a:prstGeom>
          <a:solidFill>
            <a:srgbClr val="28315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4309666"/>
            <a:ext cx="571486" cy="571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76838" y="5014516"/>
            <a:ext cx="49274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(Resultado):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6476838" y="5522516"/>
            <a:ext cx="515607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peor calidad del sueño.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558786" y="6277471"/>
            <a:ext cx="1107412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Objetivo:</a:t>
            </a: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determinar si existe una asociación entre el uso problemático del celular y las alteraciones del sueño en universitarios.</a:t>
            </a:r>
            <a:endParaRPr lang="en-US" sz="1800" dirty="0"/>
          </a:p>
        </p:txBody>
      </p:sp>
      <p:sp>
        <p:nvSpPr>
          <p:cNvPr id="21" name="Terminador 20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322976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Introducción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106142"/>
            <a:ext cx="5537061" cy="139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86" y="3509367"/>
            <a:ext cx="863578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 uso problemático del celular puede asociarse con alteraciones del sueño y dificultades psicológicas. Por ello, es importante estudiar su relación con el descanso de los universitarios.</a:t>
            </a:r>
            <a:endParaRPr lang="en-US" sz="2000" dirty="0"/>
          </a:p>
        </p:txBody>
      </p:sp>
      <p:sp>
        <p:nvSpPr>
          <p:cNvPr id="5" name="Terminador 4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 err="1" smtClean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Artículo</a:t>
            </a:r>
            <a:r>
              <a:rPr lang="en-US" sz="4000" kern="100" spc="-48" dirty="0" smtClean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1: 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3654433" cy="139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391" y="1681778"/>
            <a:ext cx="35243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s-MX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Tabla 1. Características demográficas de la muestra del estudio ( N = 460)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255" y="1561293"/>
            <a:ext cx="3455494" cy="642610"/>
          </a:xfrm>
          <a:prstGeom prst="roundRect">
            <a:avLst>
              <a:gd name="adj" fmla="val 217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724" y="6021373"/>
            <a:ext cx="345549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s-MX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Tabla 2. Indicadores del ajuste del modelo de escala de adicción a los teléfonos inteligentes en la muestra.</a:t>
            </a:r>
            <a:endParaRPr lang="en-US" sz="1100" dirty="0"/>
          </a:p>
        </p:txBody>
      </p:sp>
      <p:sp>
        <p:nvSpPr>
          <p:cNvPr id="8" name="Terminador 7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444" y="223798"/>
            <a:ext cx="7587254" cy="2280074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72" y="2748578"/>
            <a:ext cx="3708047" cy="31619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608520" y="6018724"/>
            <a:ext cx="3554964" cy="642610"/>
          </a:xfrm>
          <a:prstGeom prst="roundRect">
            <a:avLst>
              <a:gd name="adj" fmla="val 217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77" y="2810312"/>
            <a:ext cx="4222228" cy="2455559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6706163" y="5505595"/>
            <a:ext cx="3767669" cy="683573"/>
          </a:xfrm>
          <a:prstGeom prst="roundRect">
            <a:avLst>
              <a:gd name="adj" fmla="val 217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15" name="Text 4"/>
          <p:cNvSpPr/>
          <p:nvPr/>
        </p:nvSpPr>
        <p:spPr>
          <a:xfrm>
            <a:off x="7004150" y="5640576"/>
            <a:ext cx="3626255" cy="539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s-MX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Tabla 3. Indicadores del ajuste del modelo de escala GAD-7 entre la muestra.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50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Metodología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3654433" cy="139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1786235"/>
            <a:ext cx="5460863" cy="1335980"/>
          </a:xfrm>
          <a:prstGeom prst="roundRect">
            <a:avLst>
              <a:gd name="adj" fmla="val 256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780" y="2040235"/>
            <a:ext cx="49528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Muestra: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80" y="2548235"/>
            <a:ext cx="520687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460 universitarios egipcios.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2046" y="1786235"/>
            <a:ext cx="5460863" cy="1335980"/>
          </a:xfrm>
          <a:prstGeom prst="roundRect">
            <a:avLst>
              <a:gd name="adj" fmla="val 256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6039" y="2040235"/>
            <a:ext cx="49528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Edad: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6039" y="2548235"/>
            <a:ext cx="520687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19–24 años.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58786" y="3274516"/>
            <a:ext cx="5460863" cy="1335980"/>
          </a:xfrm>
          <a:prstGeom prst="roundRect">
            <a:avLst>
              <a:gd name="adj" fmla="val 256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2780" y="3528516"/>
            <a:ext cx="49528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Universidades: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12780" y="4036516"/>
            <a:ext cx="520687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Fayoum y Ain Shams.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72046" y="3274516"/>
            <a:ext cx="5460863" cy="1335980"/>
          </a:xfrm>
          <a:prstGeom prst="roundRect">
            <a:avLst>
              <a:gd name="adj" fmla="val 256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6039" y="3528516"/>
            <a:ext cx="49528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Diseño: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26039" y="4036516"/>
            <a:ext cx="520687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transversal.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58786" y="4762798"/>
            <a:ext cx="11074123" cy="1335980"/>
          </a:xfrm>
          <a:prstGeom prst="roundRect">
            <a:avLst>
              <a:gd name="adj" fmla="val 256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2780" y="5016798"/>
            <a:ext cx="105661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Método: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2780" y="5524798"/>
            <a:ext cx="1082012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cuestionarios y análisis estadístico.</a:t>
            </a:r>
            <a:endParaRPr lang="en-US" sz="1800" dirty="0"/>
          </a:p>
        </p:txBody>
      </p:sp>
      <p:sp>
        <p:nvSpPr>
          <p:cNvPr id="19" name="Terminador 18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Cuestionarios utilizados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3654433" cy="139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1786235"/>
            <a:ext cx="5460863" cy="1875730"/>
          </a:xfrm>
          <a:prstGeom prst="roundRect">
            <a:avLst>
              <a:gd name="adj" fmla="val 1828"/>
            </a:avLst>
          </a:prstGeom>
          <a:solidFill>
            <a:srgbClr val="28315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0" y="2014835"/>
            <a:ext cx="457189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7380" y="2605385"/>
            <a:ext cx="50036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SAS (33 ítems)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87380" y="3113385"/>
            <a:ext cx="5232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evalúa la adicción al celular.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172046" y="1786235"/>
            <a:ext cx="5460863" cy="1875730"/>
          </a:xfrm>
          <a:prstGeom prst="roundRect">
            <a:avLst>
              <a:gd name="adj" fmla="val 1828"/>
            </a:avLst>
          </a:prstGeom>
          <a:solidFill>
            <a:srgbClr val="28315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640" y="2014835"/>
            <a:ext cx="457189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640" y="2605385"/>
            <a:ext cx="50036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GAD-7 (7 ítems)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400640" y="3113385"/>
            <a:ext cx="5232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mide síntomas de ansiedad.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58786" y="3814366"/>
            <a:ext cx="5460863" cy="2195711"/>
          </a:xfrm>
          <a:prstGeom prst="roundRect">
            <a:avLst>
              <a:gd name="adj" fmla="val 1562"/>
            </a:avLst>
          </a:prstGeom>
          <a:solidFill>
            <a:srgbClr val="283157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80" y="4042966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7380" y="4633516"/>
            <a:ext cx="50036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HSCL-25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87380" y="5141516"/>
            <a:ext cx="500367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 utilizó la subescala de depresión de 16 ítems.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172046" y="3814366"/>
            <a:ext cx="5460863" cy="2195711"/>
          </a:xfrm>
          <a:prstGeom prst="roundRect">
            <a:avLst>
              <a:gd name="adj" fmla="val 1562"/>
            </a:avLst>
          </a:prstGeom>
          <a:solidFill>
            <a:srgbClr val="28315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640" y="4042966"/>
            <a:ext cx="457189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640" y="4633516"/>
            <a:ext cx="50036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Sleep Disorders Scale (28 ítems)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6400640" y="5141516"/>
            <a:ext cx="5232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evalúa los trastornos del sueño.</a:t>
            </a:r>
            <a:endParaRPr lang="en-US" sz="1800" dirty="0"/>
          </a:p>
        </p:txBody>
      </p:sp>
      <p:sp>
        <p:nvSpPr>
          <p:cNvPr id="20" name="Terminador 19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6197445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Resultados principales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2045145" cy="139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86" y="1786235"/>
            <a:ext cx="61974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 encontraron asociaciones positivas entre la adicción al celular y: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58786" y="2632571"/>
            <a:ext cx="6197445" cy="177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Ansiedad:</a:t>
            </a: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 = 0,485.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Depresión:</a:t>
            </a: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 = 0,627.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Trastornos del sueño:</a:t>
            </a: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 = 0,567.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Todas las asociaciones fueron estadísticamente significativas (p &lt; 0,001).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017" y="0"/>
            <a:ext cx="4876678" cy="6858000"/>
          </a:xfrm>
          <a:prstGeom prst="roundRect">
            <a:avLst>
              <a:gd name="adj" fmla="val 703"/>
            </a:avLst>
          </a:prstGeom>
          <a:solidFill>
            <a:srgbClr val="080E2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611" y="1786235"/>
            <a:ext cx="4419489" cy="3286323"/>
          </a:xfrm>
          <a:prstGeom prst="rect">
            <a:avLst/>
          </a:prstGeom>
        </p:spPr>
      </p:pic>
      <p:sp>
        <p:nvSpPr>
          <p:cNvPr id="8" name="Terminador 7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9844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Interpretación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383010"/>
            <a:ext cx="3654433" cy="139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3152180"/>
            <a:ext cx="5384665" cy="1574800"/>
          </a:xfrm>
          <a:prstGeom prst="roundRect">
            <a:avLst>
              <a:gd name="adj" fmla="val 217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780" y="3406180"/>
            <a:ext cx="487667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Una mayor adicción al celular se relacionó con más trastornos del sueño y síntomas psicológicos.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48244" y="3152180"/>
            <a:ext cx="5384665" cy="1574800"/>
          </a:xfrm>
          <a:prstGeom prst="roundRect">
            <a:avLst>
              <a:gd name="adj" fmla="val 2177"/>
            </a:avLst>
          </a:prstGeom>
          <a:noFill/>
          <a:ln w="25399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02237" y="3619599"/>
            <a:ext cx="487667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Limitación:</a:t>
            </a:r>
            <a:r>
              <a:rPr lang="en-US" sz="1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el estudio transversal no permite demostrar causalidad.</a:t>
            </a:r>
            <a:endParaRPr lang="en-US" sz="1800" dirty="0"/>
          </a:p>
        </p:txBody>
      </p:sp>
      <p:sp>
        <p:nvSpPr>
          <p:cNvPr id="8" name="Terminador 7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962415"/>
            <a:ext cx="1107412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8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Conclusión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745581"/>
            <a:ext cx="5537061" cy="139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3148806"/>
            <a:ext cx="5384665" cy="1787922"/>
          </a:xfrm>
          <a:prstGeom prst="rect">
            <a:avLst/>
          </a:prstGeom>
          <a:solidFill>
            <a:srgbClr val="080E26"/>
          </a:solidFill>
          <a:ln/>
        </p:spPr>
      </p:sp>
      <p:sp>
        <p:nvSpPr>
          <p:cNvPr id="5" name="Text 2"/>
          <p:cNvSpPr/>
          <p:nvPr/>
        </p:nvSpPr>
        <p:spPr>
          <a:xfrm>
            <a:off x="863578" y="3402806"/>
            <a:ext cx="477508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 artículo encontró una asociación entre la adicción al celular y los trastornos del sueño en universitarios egipcios.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48244" y="3148806"/>
            <a:ext cx="5384665" cy="1787922"/>
          </a:xfrm>
          <a:prstGeom prst="rect">
            <a:avLst/>
          </a:prstGeom>
          <a:solidFill>
            <a:srgbClr val="080E26"/>
          </a:solidFill>
          <a:ln/>
        </p:spPr>
      </p:sp>
      <p:sp>
        <p:nvSpPr>
          <p:cNvPr id="7" name="Text 4"/>
          <p:cNvSpPr/>
          <p:nvPr/>
        </p:nvSpPr>
        <p:spPr>
          <a:xfrm>
            <a:off x="6553036" y="3402806"/>
            <a:ext cx="477508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Sin embargo, no comparó directamente grupos de uso moderado y problemático, por lo que responde parcialmente a nuestra pregunta PICO.</a:t>
            </a:r>
            <a:endParaRPr lang="en-US" sz="1800" dirty="0"/>
          </a:p>
        </p:txBody>
      </p:sp>
      <p:sp>
        <p:nvSpPr>
          <p:cNvPr id="8" name="Terminador 7"/>
          <p:cNvSpPr/>
          <p:nvPr/>
        </p:nvSpPr>
        <p:spPr>
          <a:xfrm>
            <a:off x="11065079" y="6535024"/>
            <a:ext cx="1048624" cy="255863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20/10/2026</a:t>
            </a:r>
            <a:endParaRPr lang="es-PE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417</Words>
  <Application>Microsoft Office PowerPoint</Application>
  <PresentationFormat>Panorámica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Epilogue Bold</vt:lpstr>
      <vt:lpstr>Calibri</vt:lpstr>
      <vt:lpstr>Fraunces Medium</vt:lpstr>
      <vt:lpstr>Epilogue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LAB-USR-LCENTRO</cp:lastModifiedBy>
  <cp:revision>3</cp:revision>
  <dcterms:created xsi:type="dcterms:W3CDTF">2026-10-21T21:17:34Z</dcterms:created>
  <dcterms:modified xsi:type="dcterms:W3CDTF">2026-10-21T21:33:50Z</dcterms:modified>
</cp:coreProperties>
</file>